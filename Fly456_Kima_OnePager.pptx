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6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5989320"/>
            <a:ext cx="11935663" cy="128016"/>
          </a:xfrm>
          <a:prstGeom prst="rect">
            <a:avLst/>
          </a:prstGeom>
          <a:solidFill>
            <a:srgbClr val="E67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C8D2"/>
                </a:solidFill>
                <a:latin typeface="Calibri"/>
              </a:defRPr>
            </a:pPr>
            <a:r>
              <a:t>PRE-SEED  ·  CONSUMER TRAVEL  ·  TELEGRAM-NATIVE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Fly456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8DCE1"/>
                </a:solidFill>
                <a:latin typeface="Calibri"/>
              </a:defRPr>
            </a:pPr>
            <a:r>
              <a:t>Cheap-flight opportunities EU/US to LatAm.</a:t>
            </a:r>
            <a:br/>
            <a:r>
              <a:t>Free Telegram channels + paid route alerts.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828"/>
                </a:solidFill>
                <a:latin typeface="Calibri"/>
              </a:defRPr>
            </a:pPr>
            <a:r>
              <a:t>Asking: ~€150k pre-seed  ·  fly456.com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B4BE"/>
                </a:solidFill>
                <a:latin typeface="Calibri"/>
              </a:defRPr>
            </a:pPr>
            <a:r>
              <a:t>Emiliano Tichauer  ·  Founder  ·  Parvus Media / Fly456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263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A0AA"/>
                </a:solidFill>
                <a:latin typeface="Calibri"/>
              </a:defRPr>
            </a:pPr>
            <a:r>
              <a:t>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6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90527" cy="41148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E78"/>
                </a:solidFill>
                <a:latin typeface="Calibri"/>
              </a:defRPr>
            </a:pPr>
            <a:r>
              <a:t>Fly456  ·  Pre-seed note for Kima Ventures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31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F6E78"/>
                </a:solidFill>
                <a:latin typeface="Calibri"/>
              </a:defRPr>
            </a:pPr>
            <a:r>
              <a:t>2/6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E82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E2D"/>
                </a:solidFill>
                <a:latin typeface="Calibri"/>
              </a:defRPr>
            </a:pPr>
            <a:r>
              <a:t>Good fares to LatAm disappear before people see them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9232D"/>
                </a:solidFill>
                <a:latin typeface="Calibri"/>
              </a:defRPr>
            </a:pPr>
            <a:r>
              <a:t>•  Diaspora and leisure travelers watch dozens of groups and still miss deals.</a:t>
            </a:r>
          </a:p>
          <a:p>
            <a:pPr>
              <a:spcAft>
                <a:spcPts val="1000"/>
              </a:spcAft>
              <a:defRPr sz="1800">
                <a:solidFill>
                  <a:srgbClr val="19232D"/>
                </a:solidFill>
                <a:latin typeface="Calibri"/>
              </a:defRPr>
            </a:pPr>
            <a:r>
              <a:t>•  Airline and OTA prices move in hours; generic alerts are noisy.</a:t>
            </a:r>
          </a:p>
          <a:p>
            <a:pPr>
              <a:spcAft>
                <a:spcPts val="1000"/>
              </a:spcAft>
              <a:defRPr sz="1800">
                <a:solidFill>
                  <a:srgbClr val="19232D"/>
                </a:solidFill>
                <a:latin typeface="Calibri"/>
              </a:defRPr>
            </a:pPr>
            <a:r>
              <a:t>•  Existing flight clubs are crowded, slow, or not focused on LatAm corridors.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6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90527" cy="41148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E78"/>
                </a:solidFill>
                <a:latin typeface="Calibri"/>
              </a:defRPr>
            </a:pPr>
            <a:r>
              <a:t>Fly456  ·  Pre-seed note for Kima Ventures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31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F6E78"/>
                </a:solidFill>
                <a:latin typeface="Calibri"/>
              </a:defRPr>
            </a:pPr>
            <a:r>
              <a:t>3/6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E82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E2D"/>
                </a:solidFill>
                <a:latin typeface="Calibri"/>
              </a:defRPr>
            </a:pPr>
            <a:r>
              <a:t>Detect opportunities. Alert fast. Stay on Telegram.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20240"/>
            <a:ext cx="3566160" cy="347472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3566160" cy="54864"/>
          </a:xfrm>
          <a:prstGeom prst="rect">
            <a:avLst/>
          </a:prstGeom>
          <a:solidFill>
            <a:srgbClr val="006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E2D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9232D"/>
                </a:solidFill>
                <a:latin typeface="Calibri"/>
              </a:defRPr>
            </a:pPr>
            <a:r>
              <a:t>Public Telegram channels</a:t>
            </a:r>
          </a:p>
          <a:p>
            <a:pPr>
              <a:spcAft>
                <a:spcPts val="400"/>
              </a:spcAft>
              <a:defRPr sz="1300">
                <a:solidFill>
                  <a:srgbClr val="19232D"/>
                </a:solidFill>
                <a:latin typeface="Calibri"/>
              </a:defRPr>
            </a:pPr>
            <a:r>
              <a:t>by origin / destination</a:t>
            </a:r>
          </a:p>
          <a:p>
            <a:pPr>
              <a:spcAft>
                <a:spcPts val="400"/>
              </a:spcAft>
              <a:defRPr sz="1300">
                <a:solidFill>
                  <a:srgbClr val="19232D"/>
                </a:solidFill>
                <a:latin typeface="Calibri"/>
              </a:defRPr>
            </a:pPr>
            <a:r>
              <a:t>EU/US → LatAm routes</a:t>
            </a:r>
          </a:p>
          <a:p>
            <a:pPr>
              <a:spcAft>
                <a:spcPts val="400"/>
              </a:spcAft>
              <a:defRPr sz="1300">
                <a:solidFill>
                  <a:srgbClr val="19232D"/>
                </a:solidFill>
                <a:latin typeface="Calibri"/>
              </a:defRPr>
            </a:pPr>
            <a:r>
              <a:t>Discovery engine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920240"/>
            <a:ext cx="3566160" cy="347472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920240"/>
            <a:ext cx="3566160" cy="54864"/>
          </a:xfrm>
          <a:prstGeom prst="rect">
            <a:avLst/>
          </a:prstGeom>
          <a:solidFill>
            <a:srgbClr val="006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2103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E2D"/>
                </a:solidFill>
                <a:latin typeface="Calibri"/>
              </a:defRPr>
            </a:pPr>
            <a:r>
              <a:t>Premium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4688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9232D"/>
                </a:solidFill>
                <a:latin typeface="Calibri"/>
              </a:defRPr>
            </a:pPr>
            <a:r>
              <a:t>Personal route alerts</a:t>
            </a:r>
          </a:p>
          <a:p>
            <a:pPr>
              <a:spcAft>
                <a:spcPts val="400"/>
              </a:spcAft>
              <a:defRPr sz="1300">
                <a:solidFill>
                  <a:srgbClr val="19232D"/>
                </a:solidFill>
                <a:latin typeface="Calibri"/>
              </a:defRPr>
            </a:pPr>
            <a:r>
              <a:t>Origin + dest + dates</a:t>
            </a:r>
          </a:p>
          <a:p>
            <a:pPr>
              <a:spcAft>
                <a:spcPts val="400"/>
              </a:spcAft>
              <a:defRPr sz="1300">
                <a:solidFill>
                  <a:srgbClr val="19232D"/>
                </a:solidFill>
                <a:latin typeface="Calibri"/>
              </a:defRPr>
            </a:pPr>
            <a:r>
              <a:t>Max price threshold</a:t>
            </a:r>
          </a:p>
          <a:p>
            <a:pPr>
              <a:spcAft>
                <a:spcPts val="400"/>
              </a:spcAft>
              <a:defRPr sz="1300">
                <a:solidFill>
                  <a:srgbClr val="19232D"/>
                </a:solidFill>
                <a:latin typeface="Calibri"/>
              </a:defRPr>
            </a:pPr>
            <a:r>
              <a:t>Inbox via @fly456bot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920240"/>
            <a:ext cx="3566160" cy="347472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920240"/>
            <a:ext cx="3566160" cy="54864"/>
          </a:xfrm>
          <a:prstGeom prst="rect">
            <a:avLst/>
          </a:prstGeom>
          <a:solidFill>
            <a:srgbClr val="006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103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E2D"/>
                </a:solidFill>
                <a:latin typeface="Calibri"/>
              </a:defRPr>
            </a:pPr>
            <a:r>
              <a:t>Not 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4688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9232D"/>
                </a:solidFill>
                <a:latin typeface="Calibri"/>
              </a:defRPr>
            </a:pPr>
            <a:r>
              <a:t>We do not sell tickets</a:t>
            </a:r>
          </a:p>
          <a:p>
            <a:pPr>
              <a:spcAft>
                <a:spcPts val="400"/>
              </a:spcAft>
              <a:defRPr sz="1300">
                <a:solidFill>
                  <a:srgbClr val="19232D"/>
                </a:solidFill>
                <a:latin typeface="Calibri"/>
              </a:defRPr>
            </a:pPr>
            <a:r>
              <a:t>User books with airline/OTA</a:t>
            </a:r>
          </a:p>
          <a:p>
            <a:pPr>
              <a:spcAft>
                <a:spcPts val="400"/>
              </a:spcAft>
              <a:defRPr sz="1300">
                <a:solidFill>
                  <a:srgbClr val="19232D"/>
                </a:solidFill>
                <a:latin typeface="Calibri"/>
              </a:defRPr>
            </a:pPr>
            <a:r>
              <a:t>We win on alerts + later</a:t>
            </a:r>
          </a:p>
          <a:p>
            <a:pPr>
              <a:spcAft>
                <a:spcPts val="400"/>
              </a:spcAft>
              <a:defRPr sz="1300">
                <a:solidFill>
                  <a:srgbClr val="19232D"/>
                </a:solidFill>
                <a:latin typeface="Calibri"/>
              </a:defRPr>
            </a:pPr>
            <a:r>
              <a:t>affiliate / data upside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6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90527" cy="41148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E78"/>
                </a:solidFill>
                <a:latin typeface="Calibri"/>
              </a:defRPr>
            </a:pPr>
            <a:r>
              <a:t>Fly456  ·  Pre-seed note for Kima Ventures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31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F6E78"/>
                </a:solidFill>
                <a:latin typeface="Calibri"/>
              </a:defRPr>
            </a:pPr>
            <a:r>
              <a:t>4/6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E82"/>
                </a:solidFill>
                <a:latin typeface="Calibri"/>
              </a:defRPr>
            </a:pPr>
            <a:r>
              <a:t>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E2D"/>
                </a:solidFill>
                <a:latin typeface="Calibri"/>
              </a:defRPr>
            </a:pPr>
            <a:r>
              <a:t>Replace brackets with live numbers before sending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9232D"/>
                </a:solidFill>
                <a:latin typeface="Calibri"/>
              </a:defRPr>
            </a:pPr>
            <a:r>
              <a:t>•  [N] free channels live on Telegram</a:t>
            </a:r>
          </a:p>
          <a:p>
            <a:pPr>
              <a:spcAft>
                <a:spcPts val="1000"/>
              </a:spcAft>
              <a:defRPr sz="1800">
                <a:solidFill>
                  <a:srgbClr val="19232D"/>
                </a:solidFill>
                <a:latin typeface="Calibri"/>
              </a:defRPr>
            </a:pPr>
            <a:r>
              <a:t>•  [M] members across channels (unique approx. [U])</a:t>
            </a:r>
          </a:p>
          <a:p>
            <a:pPr>
              <a:spcAft>
                <a:spcPts val="1000"/>
              </a:spcAft>
              <a:defRPr sz="1800">
                <a:solidFill>
                  <a:srgbClr val="19232D"/>
                </a:solidFill>
                <a:latin typeface="Calibri"/>
              </a:defRPr>
            </a:pPr>
            <a:r>
              <a:t>•  [P] paying Premium subscribers  ·  €[A] MRR</a:t>
            </a:r>
          </a:p>
          <a:p>
            <a:pPr>
              <a:spcAft>
                <a:spcPts val="1000"/>
              </a:spcAft>
              <a:defRPr sz="1800">
                <a:solidFill>
                  <a:srgbClr val="19232D"/>
                </a:solidFill>
                <a:latin typeface="Calibri"/>
              </a:defRPr>
            </a:pPr>
            <a:r>
              <a:t>•  Plans from ~€1 / alert / mo  ·  Stripe checkout in Telegram</a:t>
            </a:r>
          </a:p>
          <a:p>
            <a:pPr>
              <a:spcAft>
                <a:spcPts val="1000"/>
              </a:spcAft>
              <a:defRPr sz="1800">
                <a:solidFill>
                  <a:srgbClr val="19232D"/>
                </a:solidFill>
                <a:latin typeface="Calibri"/>
              </a:defRPr>
            </a:pPr>
            <a:r>
              <a:t>•  Product live: fly456.com + @fly456bot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F6E78"/>
                </a:solidFill>
                <a:latin typeface="Calibri"/>
              </a:defRPr>
            </a:pPr>
            <a:r>
              <a:t>Tip: edit these placeholders in PowerPoint before emailing Jean.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6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90527" cy="41148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E78"/>
                </a:solidFill>
                <a:latin typeface="Calibri"/>
              </a:defRPr>
            </a:pPr>
            <a:r>
              <a:t>Fly456  ·  Pre-seed note for Kima Ventures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31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F6E78"/>
                </a:solidFill>
                <a:latin typeface="Calibri"/>
              </a:defRPr>
            </a:pPr>
            <a:r>
              <a:t>5/6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E82"/>
                </a:solidFill>
                <a:latin typeface="Calibri"/>
              </a:defRPr>
            </a:pPr>
            <a:r>
              <a:t>MODEL &amp;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E2D"/>
                </a:solidFill>
                <a:latin typeface="Calibri"/>
              </a:defRPr>
            </a:pPr>
            <a:r>
              <a:t>Subscription now. Affiliate / data later.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20240"/>
            <a:ext cx="5486400" cy="384048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5486400" cy="54864"/>
          </a:xfrm>
          <a:prstGeom prst="rect">
            <a:avLst/>
          </a:prstGeom>
          <a:solidFill>
            <a:srgbClr val="006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E2D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5120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9232D"/>
                </a:solidFill>
                <a:latin typeface="Calibri"/>
              </a:defRPr>
            </a:pPr>
            <a:r>
              <a:t>Now: Premium route alerts (SaaS-lite)</a:t>
            </a:r>
          </a:p>
          <a:p>
            <a:pPr>
              <a:spcAft>
                <a:spcPts val="400"/>
              </a:spcAft>
              <a:defRPr sz="1300">
                <a:solidFill>
                  <a:srgbClr val="19232D"/>
                </a:solidFill>
                <a:latin typeface="Calibri"/>
              </a:defRPr>
            </a:pPr>
            <a:r>
              <a:t>Next: affiliate / partner take-rate</a:t>
            </a:r>
          </a:p>
          <a:p>
            <a:pPr>
              <a:spcAft>
                <a:spcPts val="400"/>
              </a:spcAft>
              <a:defRPr sz="1300">
                <a:solidFill>
                  <a:srgbClr val="19232D"/>
                </a:solidFill>
                <a:latin typeface="Calibri"/>
              </a:defRPr>
            </a:pPr>
            <a:r>
              <a:t>Later: demand signals for OTAs</a:t>
            </a:r>
          </a:p>
          <a:p>
            <a:pPr>
              <a:spcAft>
                <a:spcPts val="400"/>
              </a:spcAft>
              <a:defRPr sz="1300">
                <a:solidFill>
                  <a:srgbClr val="19232D"/>
                </a:solidFill>
                <a:latin typeface="Calibri"/>
              </a:defRPr>
            </a:pPr>
            <a:r>
              <a:t>GTM: organic Telegram + SEO routes</a:t>
            </a:r>
          </a:p>
          <a:p>
            <a:pPr>
              <a:spcAft>
                <a:spcPts val="400"/>
              </a:spcAft>
              <a:defRPr sz="1300">
                <a:solidFill>
                  <a:srgbClr val="19232D"/>
                </a:solidFill>
                <a:latin typeface="Calibri"/>
              </a:defRPr>
            </a:pPr>
            <a:r>
              <a:t>Cost base: detection + messaging infra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920240"/>
            <a:ext cx="5486400" cy="3840480"/>
          </a:xfrm>
          <a:prstGeom prst="round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920240"/>
            <a:ext cx="5486400" cy="54864"/>
          </a:xfrm>
          <a:prstGeom prst="rect">
            <a:avLst/>
          </a:prstGeom>
          <a:solidFill>
            <a:srgbClr val="006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1031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E2D"/>
                </a:solidFill>
                <a:latin typeface="Calibri"/>
              </a:defRPr>
            </a:pPr>
            <a:r>
              <a:t>The ask (~€150k)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68880"/>
            <a:ext cx="5120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9232D"/>
                </a:solidFill>
                <a:latin typeface="Calibri"/>
              </a:defRPr>
            </a:pPr>
            <a:r>
              <a:t>Scale high-intent LatAm corridors</a:t>
            </a:r>
          </a:p>
          <a:p>
            <a:pPr>
              <a:spcAft>
                <a:spcPts val="400"/>
              </a:spcAft>
              <a:defRPr sz="1300">
                <a:solidFill>
                  <a:srgbClr val="19232D"/>
                </a:solidFill>
                <a:latin typeface="Calibri"/>
              </a:defRPr>
            </a:pPr>
            <a:r>
              <a:t>Sharper detection + faster alerts</a:t>
            </a:r>
          </a:p>
          <a:p>
            <a:pPr>
              <a:spcAft>
                <a:spcPts val="400"/>
              </a:spcAft>
              <a:defRPr sz="1300">
                <a:solidFill>
                  <a:srgbClr val="19232D"/>
                </a:solidFill>
                <a:latin typeface="Calibri"/>
              </a:defRPr>
            </a:pPr>
            <a:r>
              <a:t>Conversion free → Premium</a:t>
            </a:r>
          </a:p>
          <a:p>
            <a:pPr>
              <a:spcAft>
                <a:spcPts val="400"/>
              </a:spcAft>
              <a:defRPr sz="1300">
                <a:solidFill>
                  <a:srgbClr val="19232D"/>
                </a:solidFill>
                <a:latin typeface="Calibri"/>
              </a:defRPr>
            </a:pPr>
            <a:r>
              <a:t>Pilot affiliate monetization</a:t>
            </a:r>
          </a:p>
          <a:p>
            <a:pPr>
              <a:spcAft>
                <a:spcPts val="400"/>
              </a:spcAft>
              <a:defRPr sz="1300">
                <a:solidFill>
                  <a:srgbClr val="19232D"/>
                </a:solidFill>
                <a:latin typeface="Calibri"/>
              </a:defRPr>
            </a:pPr>
            <a:r>
              <a:t>Keep burn low; prove LTV/CAC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6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90527" cy="41148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E78"/>
                </a:solidFill>
                <a:latin typeface="Calibri"/>
              </a:defRPr>
            </a:pPr>
            <a:r>
              <a:t>Fly456  ·  Pre-seed note for Kima Ventures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731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F6E78"/>
                </a:solidFill>
                <a:latin typeface="Calibri"/>
              </a:defRPr>
            </a:pPr>
            <a:r>
              <a:t>6/6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E82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E2D"/>
                </a:solidFill>
                <a:latin typeface="Calibri"/>
              </a:defRPr>
            </a:pPr>
            <a:r>
              <a:t>Operator-builder with AdTech &amp; product DNA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9232D"/>
                </a:solidFill>
                <a:latin typeface="Calibri"/>
              </a:defRPr>
            </a:pPr>
            <a:r>
              <a:t>•  Emiliano Tichauer — Founder (Spain; LatAm roots)</a:t>
            </a:r>
          </a:p>
          <a:p>
            <a:pPr>
              <a:spcAft>
                <a:spcPts val="1000"/>
              </a:spcAft>
              <a:defRPr sz="1800">
                <a:solidFill>
                  <a:srgbClr val="19232D"/>
                </a:solidFill>
                <a:latin typeface="Calibri"/>
              </a:defRPr>
            </a:pPr>
            <a:r>
              <a:t>•  Built Parvus Media since 2013 (AdTech, data, performance; Madrid + Dubai footprint)</a:t>
            </a:r>
          </a:p>
          <a:p>
            <a:pPr>
              <a:spcAft>
                <a:spcPts val="1000"/>
              </a:spcAft>
              <a:defRPr sz="1800">
                <a:solidFill>
                  <a:srgbClr val="19232D"/>
                </a:solidFill>
                <a:latin typeface="Calibri"/>
              </a:defRPr>
            </a:pPr>
            <a:r>
              <a:t>•  Ships products end-to-end: detection, Telegram UX, Stripe billing</a:t>
            </a:r>
          </a:p>
          <a:p>
            <a:pPr>
              <a:spcAft>
                <a:spcPts val="1000"/>
              </a:spcAft>
              <a:defRPr sz="1800">
                <a:solidFill>
                  <a:srgbClr val="19232D"/>
                </a:solidFill>
                <a:latin typeface="Calibri"/>
              </a:defRPr>
            </a:pPr>
            <a:r>
              <a:t>•  Contact: [email]  ·  LinkedIn: linkedin.com/in/etichauer  ·  fly456.com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